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E-Commerce Chat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  <a:latin typeface="Calibri"/>
              </a:defRPr>
            </a:pPr>
            <a:r>
              <a:t>Technical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0E0"/>
                </a:solidFill>
                <a:latin typeface="Calibri"/>
              </a:defRPr>
            </a:pPr>
            <a:r>
              <a:t>Multi-Agent Orchestration  |  Real-Time Chat  |  Responsible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754880"/>
            <a:ext cx="100584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4754880"/>
            <a:ext cx="1005840" cy="3657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4754880"/>
            <a:ext cx="1005840" cy="36576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Django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754880"/>
            <a:ext cx="1005840" cy="3657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1005840" cy="36576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754880"/>
            <a:ext cx="100584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OpenAI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754880"/>
            <a:ext cx="100584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4754880"/>
            <a:ext cx="1005840" cy="3657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Calibri"/>
              </a:defRPr>
            </a:pPr>
            <a:r>
              <a:t>7 Microservices  |  9 AI Agents  |  8 MCP Tools  |  13 Database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Microservices architecture with Docker Compose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18288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CLIENT TIER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React 18 + TypeScript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Vite + TailwindCSS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Nginx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Port 3065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280160"/>
            <a:ext cx="256032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 TIER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Node.js 20 + Express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JWT Auth + WebSocket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Rate Limiting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Port 3066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2926080" cy="1828800"/>
          </a:xfrm>
          <a:prstGeom prst="round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SERVICE TIER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Django 5.1 + DRF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Multi-Agent Orchestrator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Gunicorn (4 workers)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Port 3067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280160"/>
            <a:ext cx="2468880" cy="1828800"/>
          </a:xfrm>
          <a:prstGeom prst="round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PROTOCOL SERVERS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MCP Server (Port 3068)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A2A Server (Port 3069)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Tool &amp; Agent Registry</a:t>
            </a:r>
          </a:p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Node.js 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194560"/>
            <a:ext cx="457200" cy="0"/>
          </a:xfrm>
          <a:prstGeom prst="line">
            <a:avLst/>
          </a:prstGeom>
          <a:ln w="25400"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194560"/>
            <a:ext cx="457200" cy="0"/>
          </a:xfrm>
          <a:prstGeom prst="line">
            <a:avLst/>
          </a:prstGeom>
          <a:ln w="2540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0" y="2194560"/>
            <a:ext cx="457200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3566160"/>
            <a:ext cx="2103120" cy="128016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13 Tables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UUID PKs + JSONB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Full-text Search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Port 5499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566160"/>
            <a:ext cx="2103120" cy="12801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Redis 7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4 Databases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Session Cache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Token Store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Port 6399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566160"/>
            <a:ext cx="1828800" cy="1280160"/>
          </a:xfrm>
          <a:prstGeom prst="roundRect">
            <a:avLst/>
          </a:prstGeom>
          <a:solidFill>
            <a:srgbClr val="311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OpenAI API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gpt-4o-mini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Chat Completions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Function Calling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3566160"/>
            <a:ext cx="1554480" cy="12801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ML Models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Detoxify (BERT)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spaCy NER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PII Masking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303520"/>
            <a:ext cx="11612880" cy="457200"/>
          </a:xfrm>
          <a:prstGeom prst="roundRect">
            <a:avLst/>
          </a:prstGeom>
          <a:solidFill>
            <a:srgbClr val="0D6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 Compose  |  Bridge Network (ecommerce_net)  |  Health Checks  |  Volume Persistence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3108960"/>
            <a:ext cx="0" cy="457200"/>
          </a:xfrm>
          <a:prstGeom prst="line">
            <a:avLst/>
          </a:prstGeom>
          <a:ln w="19050">
            <a:solidFill>
              <a:srgbClr val="F4A2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5120" y="3108960"/>
            <a:ext cx="0" cy="457200"/>
          </a:xfrm>
          <a:prstGeom prst="line">
            <a:avLst/>
          </a:prstGeom>
          <a:ln w="19050">
            <a:solidFill>
              <a:srgbClr val="E76F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Multi-Agent Orchestration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6-stage pipeline with input/output validation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737360" cy="73152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INPUT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Prompt Injection (LLM)</a:t>
            </a:r>
            <a:br/>
            <a:r>
              <a:t>Toxicity (Detoxify, 70%)</a:t>
            </a:r>
            <a:br/>
            <a:r>
              <a:t>Topic Relevance (LLM)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173736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77440" y="1371600"/>
            <a:ext cx="1737360" cy="73152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SENTIMENT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Sentiment Classification</a:t>
            </a:r>
            <a:br/>
            <a:r>
              <a:t>Frustration Level</a:t>
            </a:r>
            <a:br/>
            <a:r>
              <a:t>Auto-Escalation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73736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97680" y="1371600"/>
            <a:ext cx="1737360" cy="7315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INTENT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7 Intent Categories</a:t>
            </a:r>
            <a:br/>
            <a:r>
              <a:t>LLM-based Classification</a:t>
            </a:r>
            <a:br/>
            <a:r>
              <a:t>Context-Aware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73736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217920" y="1371600"/>
            <a:ext cx="1737360" cy="73152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AGENT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8 Specialized Agents</a:t>
            </a:r>
            <a:br/>
            <a:r>
              <a:t>Tool Invocation</a:t>
            </a:r>
            <a:br/>
            <a:r>
              <a:t>LLM Formatting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55280" y="173736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60" y="1371600"/>
            <a:ext cx="173736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TOOL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INVOCATION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E-Commerce Toolkit</a:t>
            </a:r>
            <a:br/>
            <a:r>
              <a:t>MCP Server Tools</a:t>
            </a:r>
            <a:br/>
            <a:r>
              <a:t>Database Queries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75520" y="1737360"/>
            <a:ext cx="18288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0" y="1371600"/>
            <a:ext cx="1737360" cy="73152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 OUTPUT</a:t>
            </a:r>
          </a:p>
          <a:p>
            <a:pPr algn="ctr">
              <a:defRPr sz="110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19456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Toxicity Filter (0.7)</a:t>
            </a:r>
            <a:br/>
            <a:r>
              <a:t>Bias Detection</a:t>
            </a:r>
            <a:br/>
            <a:r>
              <a:t>PII Masking (spaCy)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Specialized 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49039"/>
            <a:ext cx="265176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Customer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5195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Lookup customer info</a:t>
            </a:r>
            <a:br/>
            <a:r>
              <a:t>Profile &amp; loyalty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749039"/>
            <a:ext cx="265176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Order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25195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Track orders (ORD-XXXXX)</a:t>
            </a:r>
            <a:br/>
            <a:r>
              <a:t>Status &amp; delivery info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49039"/>
            <a:ext cx="265176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Product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5195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Search with filters</a:t>
            </a:r>
            <a:br/>
            <a:r>
              <a:t>Category, price, rating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3749039"/>
            <a:ext cx="2651760" cy="4572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Payment Info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425195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Payment details</a:t>
            </a:r>
            <a:br/>
            <a:r>
              <a:t>Masked card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937759"/>
            <a:ext cx="26517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4067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Personalized suggestions</a:t>
            </a:r>
            <a:br/>
            <a:r>
              <a:t>History-based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937759"/>
            <a:ext cx="2651760" cy="4572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Sentiment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44067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Frustration detection</a:t>
            </a:r>
            <a:br/>
            <a:r>
              <a:t>Escalation routing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937759"/>
            <a:ext cx="265176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44067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Business insights</a:t>
            </a:r>
            <a:br/>
            <a:r>
              <a:t>Order &amp; product trends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4937759"/>
            <a:ext cx="2651760" cy="457200"/>
          </a:xfrm>
          <a:prstGeom prst="round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General (LLM)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544067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FAQ &amp; policies</a:t>
            </a:r>
            <a:br/>
            <a:r>
              <a:t>Direct LLM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PostgreSQL 16 with 13 tables, UUID primary keys, JSONB fields, and full-text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Core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39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UUID PK, loyalty_tier, loyalty_points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39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9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JSONB specs, images, full-text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17520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19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JSON items, status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599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5935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Masked card data,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9D8F"/>
                </a:solidFill>
                <a:latin typeface="Calibri"/>
              </a:defRPr>
            </a:pPr>
            <a:r>
              <a:t>Communication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1737360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39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Chat sessions, metadata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377439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679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User/assistant, validation_status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017520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19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Alerts, order updates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A261"/>
                </a:solidFill>
                <a:latin typeface="Calibri"/>
              </a:defRPr>
            </a:pPr>
            <a:r>
              <a:t>Commerce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737360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39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Ratings (1-5), comments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377439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coupons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79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Discount codes, date ranges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017520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wishlist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319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User favorites (unique)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657599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cart_items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95935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Shopping cart contents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Analytics &amp; 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737360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analytics_events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User behavior tracking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2377439"/>
            <a:ext cx="2743200" cy="27432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agent_executions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67919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Agent logs, metrics, timing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6F51"/>
                </a:solidFill>
                <a:latin typeface="Calibri"/>
              </a:defRPr>
            </a:pPr>
            <a:r>
              <a:t>Redis 7 Cache Layer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94960"/>
            <a:ext cx="2743200" cy="32004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DB 0: API Service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User sessions (5m TTL), token blacklist, refresh tokens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394960"/>
            <a:ext cx="2743200" cy="32004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DB 1: AI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Model cache, conversation context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5394960"/>
            <a:ext cx="2743200" cy="32004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DB 2: MCP Server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Tool result cache (3m TTL)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5394960"/>
            <a:ext cx="2743200" cy="32004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DB 3: A2A Server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Agent state, task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Security &amp;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Multi-layer security with input/output guardrails and privacy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4572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INPUT SECURITY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Prompt Injection Detection — LLM-based classifier (Y/N)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Toxicity Filtering — Detoxify BERT model (threshold: 70%)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Topic Validation — On-topic / off-topic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Rate Limiting — 100 req/min global, 5 req/min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Input Sanitization — express-validator on all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Request Size Limits — 10MB max payload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6576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OUTPUT SECURITY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Toxicity Check — Detoxify score (threshold: 0.7)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Bias Detection — Keyword heuristics +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60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PII Masking — spaCy NER (PERSON, GPE, ORG, DATE)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Payment Protection — Only last 4 digits exposed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Content Filtering — Block flagged responses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20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Validation Status — pending / valid / invalid / flagged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371600"/>
            <a:ext cx="35661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AUTHENTICATION &amp;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9202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Password Hashing — bcryptjs (10 salt rounds)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40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JWT Tokens — 24h access, 7d refresh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560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Token Blacklisting — Redis-backed logout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80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Refresh Rotation — Secure token renewal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00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Guest Access — Anonymous chat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520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Calibri"/>
              </a:defRPr>
            </a:pPr>
            <a:r>
              <a:t>  Helmet — Security headers middleware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Responsible AI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3657600" cy="36576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Input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65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Every user message passes through 3 security checks before processing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4572000"/>
            <a:ext cx="3657600" cy="36576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Output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965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Every AI response is checked for toxicity, bias, and PII before delivery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572000"/>
            <a:ext cx="3657600" cy="36576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965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All agent executions logged with input/output data and timing metrics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86400"/>
            <a:ext cx="3657600" cy="36576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Privacy Protection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79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PII automatically masked; payment data shows only last 4 digits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5486400"/>
            <a:ext cx="3657600" cy="36576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Human Escalation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879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Sentiment analysis detects frustrated users and triggers escalation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5486400"/>
            <a:ext cx="3657600" cy="365760"/>
          </a:xfrm>
          <a:prstGeom prst="roundRect">
            <a:avLst/>
          </a:prstGeom>
          <a:solidFill>
            <a:srgbClr val="2D2D45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B4D8"/>
                </a:solidFill>
                <a:latin typeface="Calibri"/>
              </a:defRPr>
            </a:pPr>
            <a:r>
              <a:t>Topic Guardrails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58795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Only e-commerce queries accepted; off-topic requests politely rejected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MCP &amp; A2A Protocol Servers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Standardized tool invocation and agent-to-agent communication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MCP SERVER — Model Context Protocol (Port 3068)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customer_lookup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Customer profile with Redis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order_lookup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Order details &amp; history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product_search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Full-text search with filters (3m cache)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payment_status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Payment tracking &amp;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recommendation_engine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Personalized product 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926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inventory_check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926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Real-time stock level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coupon_validation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Discount code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83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analytics_summary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83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Business metrics &amp;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Features: Zod validation | 30s timeout | Metrics tracking | Middleware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371600"/>
            <a:ext cx="54864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A2A SERVER — Agent-to-Agent Protocol (Port 3069)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9D8F"/>
                </a:solidFill>
                <a:latin typeface="Calibri"/>
              </a:defRPr>
            </a:pPr>
            <a:r>
              <a:t>customerSupportAgent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Account management, loyalty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011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9D8F"/>
                </a:solidFill>
                <a:latin typeface="Calibri"/>
              </a:defRPr>
            </a:pPr>
            <a:r>
              <a:t>productAgent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Product recommendations,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9D8F"/>
                </a:solidFill>
                <a:latin typeface="Calibri"/>
              </a:defRPr>
            </a:pPr>
            <a:r>
              <a:t>orderAgent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Order tracking,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9D8F"/>
                </a:solidFill>
                <a:latin typeface="Calibri"/>
              </a:defRPr>
            </a:pPr>
            <a:r>
              <a:t>paymentAgent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468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Payment processing, refunds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9D8F"/>
                </a:solidFill>
                <a:latin typeface="Calibri"/>
              </a:defRPr>
            </a:pPr>
            <a:r>
              <a:t>recommendationAgent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Personalized suggestions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9260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9D8F"/>
                </a:solidFill>
                <a:latin typeface="Calibri"/>
              </a:defRPr>
            </a:pPr>
            <a:r>
              <a:t>sentimentAgent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29260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0E0E0"/>
                </a:solidFill>
                <a:latin typeface="Calibri"/>
              </a:defRPr>
            </a:pPr>
            <a:r>
              <a:t>Sentiment analysis, escalations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474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Calibri"/>
              </a:defRPr>
            </a:pPr>
            <a:r>
              <a:t>Features: Agent registry | Keyword routing | Health tracking | Task management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A261"/>
                </a:solidFill>
                <a:latin typeface="Calibri"/>
              </a:defRPr>
            </a:pPr>
            <a:r>
              <a:t>Protocol API Endpoints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GET /mcp/tools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Calibri"/>
              </a:defRPr>
            </a:pPr>
            <a:r>
              <a:t>List all available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GET /mcp/tools/{name}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Calibri"/>
              </a:defRPr>
            </a:pPr>
            <a:r>
              <a:t>Get tool schema &amp; definition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POST /mcp/tools/{name}/invoke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Calibri"/>
              </a:defRPr>
            </a:pPr>
            <a:r>
              <a:t>Execute tool with parameters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C3AED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48463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GET /mcp/metrics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Calibri"/>
              </a:defRPr>
            </a:pPr>
            <a:r>
              <a:t>Tool invocation metrics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A9D8F"/>
                </a:solidFill>
                <a:latin typeface="Calibri"/>
              </a:defRPr>
            </a:pPr>
            <a:r>
              <a:t>A2A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486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GET /a2a/agents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Calibri"/>
              </a:defRPr>
            </a:pPr>
            <a:r>
              <a:t>List all registered agents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A9D8F"/>
                </a:solidFill>
                <a:latin typeface="Calibri"/>
              </a:defRPr>
            </a:pPr>
            <a:r>
              <a:t>A2A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486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POST /a2a/tasks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Calibri"/>
              </a:defRPr>
            </a:pPr>
            <a:r>
              <a:t>Create &amp; route task to 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A9D8F"/>
                </a:solidFill>
                <a:latin typeface="Calibri"/>
              </a:defRPr>
            </a:pPr>
            <a:r>
              <a:t>A2A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0" y="5486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GET /a2a/tasks/{id}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Calibri"/>
              </a:defRPr>
            </a:pPr>
            <a:r>
              <a:t>Get task status &amp; results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486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A9D8F"/>
                </a:solidFill>
                <a:latin typeface="Calibri"/>
              </a:defRPr>
            </a:pPr>
            <a:r>
              <a:t>A2A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5486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GET /a2a/health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Calibri"/>
              </a:defRPr>
            </a:pPr>
            <a:r>
              <a:t>Agent health &amp;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Technology Stack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React 18 + TypeScript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Vite (build tool)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TailwindCSS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React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Zustand (state)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Framer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Recharts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097280"/>
            <a:ext cx="27432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API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Node.js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Express.js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WebSocket (ws)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JWT (jsonwebtoken)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bcryptjs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express-validator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Helmet + CORS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097280"/>
            <a:ext cx="2743200" cy="457200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Python 3.11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Django 5.1 + DRF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OpenAI SDK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Detoxify (BERT)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spaCy 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Gunicorn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Celery + Redis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097280"/>
            <a:ext cx="274320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Docker 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057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PostgreSQL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423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Redis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788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Nginx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Health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520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Volume Persistence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Bridge Network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Calibri"/>
              </a:defRPr>
            </a:pPr>
            <a:r>
              <a:t>Microservices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AI Agents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Calibri"/>
              </a:defRPr>
            </a:pPr>
            <a:r>
              <a:t>MCP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Calibri"/>
              </a:defRPr>
            </a:pPr>
            <a:r>
              <a:t>DB Tables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Calibri"/>
              </a:defRPr>
            </a:pPr>
            <a:r>
              <a:t>A2A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Calibri"/>
              </a:defRPr>
            </a:pPr>
            <a:r>
              <a:t>Security Layers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Calibri"/>
              </a:defRPr>
            </a:pPr>
            <a:r>
              <a:t>Gunicorn Workers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0" y="52120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5669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A0"/>
                </a:solidFill>
                <a:latin typeface="Calibri"/>
              </a:defRPr>
            </a:pPr>
            <a:r>
              <a:t>DB Indexes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